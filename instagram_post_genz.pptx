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486400"/>
            <a:ext cx="3657600" cy="3657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6400800"/>
            <a:ext cx="2743200" cy="2743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1680" y="914400"/>
            <a:ext cx="2834640" cy="4572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914400"/>
            <a:ext cx="2834640" cy="457200"/>
          </a:xfrm>
          <a:prstGeom prst="roundRect">
            <a:avLst/>
          </a:prstGeom>
          <a:noFill/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60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Noto Sans JP"/>
              </a:defRPr>
            </a:pPr>
            <a:r>
              <a:t>2026  春〜夏学期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  <a:latin typeface="Noto Sans JP"/>
              </a:defRPr>
            </a:pPr>
            <a:r>
              <a:t>大阪大学大学院 人文学研究科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Noto Sans JP"/>
              </a:defRPr>
            </a:pPr>
            <a:r>
              <a:t>人文学と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34D399"/>
                </a:solidFill>
                <a:latin typeface="Noto Sans JP"/>
              </a:defRPr>
            </a:pPr>
            <a:r>
              <a:t>デジタル技術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Noto Sans JP"/>
              </a:defRPr>
            </a:pPr>
            <a:r>
              <a:t>Humanities &amp; Digital Technologies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572000"/>
            <a:ext cx="173736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1371600" cy="384048"/>
          </a:xfrm>
          <a:prstGeom prst="roundRect">
            <a:avLst/>
          </a:prstGeom>
          <a:noFill/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Noto Sans JP"/>
              </a:defRPr>
            </a:pPr>
            <a:r>
              <a:t>全15回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937760"/>
            <a:ext cx="1371600" cy="384048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Noto Sans JP"/>
              </a:defRPr>
            </a:pPr>
            <a:r>
              <a:t>オンデマンド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937760"/>
            <a:ext cx="1371600" cy="384048"/>
          </a:xfrm>
          <a:prstGeom prst="roundRect">
            <a:avLst/>
          </a:pr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84FC"/>
                </a:solidFill>
                <a:latin typeface="Noto Sans JP"/>
              </a:defRPr>
            </a:pPr>
            <a:r>
              <a:t>2単位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937760"/>
            <a:ext cx="1371600" cy="384048"/>
          </a:xfrm>
          <a:prstGeom prst="roundRect">
            <a:avLst/>
          </a:prstGeom>
          <a:noFill/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Noto Sans JP"/>
              </a:defRPr>
            </a:pPr>
            <a:r>
              <a:t>ポートフォリオ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D4D8"/>
                </a:solidFill>
                <a:latin typeface="Noto Sans JP"/>
              </a:defRPr>
            </a:pPr>
            <a:r>
              <a:t>研究における</a:t>
            </a:r>
            <a:br/>
            <a:r>
              <a:t>「調査・読解・思考・執筆・発信」を</a:t>
            </a:r>
            <a:br/>
            <a:r>
              <a:t>デジタル技術で</a:t>
            </a:r>
            <a:br/>
            <a:r>
              <a:t>アップデートする授業です。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406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Noto Sans JP"/>
              </a:defRPr>
            </a:pPr>
            <a:r>
              <a:t>菅原 裕輝｜人文学林・講師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7772400"/>
            <a:ext cx="3566160" cy="320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7790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Noto Sans JP"/>
              </a:defRPr>
            </a:pPr>
            <a:r>
              <a:t>📚 授業資料 OUKA で公開中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8229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Noto Sans JP"/>
              </a:defRPr>
            </a:pPr>
            <a:r>
              <a:t>▶ swipe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-914400"/>
            <a:ext cx="3657600" cy="3657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全15回のプログラム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Noto Sans JP"/>
              </a:defRPr>
            </a:pPr>
            <a:r>
              <a:t>3 phases で段階的にレベルアップ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6217920" cy="21488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621792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097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Noto Sans JP"/>
              </a:defRPr>
            </a:pPr>
            <a:r>
              <a:t>PHASE 1   基盤を整える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Noto Sans JP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導入：Notion・Markdown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854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Noto Sans JP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854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タスク管理：Trello・Calendar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Noto Sans JP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文献探索：Google Scholar・Zotero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Noto Sans JP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07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ノート術：Obsidian・Zettelkasten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181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Noto Sans JP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181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執筆：Scrivener・Word・LaTeX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49039"/>
            <a:ext cx="6217920" cy="21488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" y="3749039"/>
            <a:ext cx="6217920" cy="4114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871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Noto Sans JP"/>
              </a:defRPr>
            </a:pPr>
            <a:r>
              <a:t>PHASE 2   データと向き合う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Noto Sans JP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コーパス：Sketch Engine・中納言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6285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Noto Sans JP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6285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インタビュー・Whisper 文字起こし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7375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Noto Sans JP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7375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質的分析・コーディング・発酵思考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8464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Noto Sans JP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8464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デジタルデータの整理術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9554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Noto Sans JP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9554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ウェブページの構造・分析・構築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6126480"/>
            <a:ext cx="6217920" cy="21488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040" y="6126480"/>
            <a:ext cx="6217920" cy="41148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645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  <a:latin typeface="Noto Sans JP"/>
              </a:defRPr>
            </a:pPr>
            <a:r>
              <a:t>PHASE 3   発展と統合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629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Noto Sans JP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629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ソーシャルメディアの分析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9402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Noto Sans JP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6940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テキストデータの収集・前処理・分析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7251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Noto Sans JP"/>
              </a:defRPr>
            </a:pPr>
            <a: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7251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画像データの収集と分析（IIIF）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7562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Noto Sans JP"/>
              </a:defRPr>
            </a:pPr>
            <a: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7562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生成AI活用の可能性と限界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78729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Noto Sans JP"/>
              </a:defRPr>
            </a:pPr>
            <a: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7872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まとめ：ワークフローの再設計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83210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Noto Sans JP"/>
              </a:defRPr>
            </a:pPr>
            <a:r>
              <a:t>▶ swipe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0"/>
            <a:ext cx="3657600" cy="3657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486400"/>
            <a:ext cx="3657600" cy="365760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この授業の 3つの特徴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6217920" cy="1828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6217920" cy="1828800"/>
          </a:xfrm>
          <a:prstGeom prst="roundRect">
            <a:avLst/>
          </a:prstGeom>
          <a:noFill/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Noto Sans JP"/>
              </a:defRPr>
            </a:pPr>
            <a:r>
              <a:t>🍞 「発酵思考」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Noto Sans JP"/>
              </a:defRPr>
            </a:pPr>
            <a:r>
              <a:t>デジタル技術で効率的に材料を集め、</a:t>
            </a:r>
            <a:br/>
            <a:r>
              <a:t>人文学の視点でゆっくり「発酵」させて</a:t>
            </a:r>
            <a:br/>
            <a:r>
              <a:t>深い洞察を生み出す。</a:t>
            </a:r>
            <a:br/>
            <a:r>
              <a:t>「速さ」と「深さ」を両立するアプローチ。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108960"/>
            <a:ext cx="6217920" cy="164592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3108960"/>
            <a:ext cx="6217920" cy="164592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Noto Sans JP"/>
              </a:defRPr>
            </a:pPr>
            <a:r>
              <a:t>🛠️ 実践的ツールを体系的に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Noto Sans JP"/>
              </a:defRPr>
            </a:pPr>
            <a:r>
              <a:t>Notion / Obsidian / Zotero / Sketch Engine</a:t>
            </a:r>
            <a:br/>
            <a:r>
              <a:t>Whisper / Google Colab / IIIF / ChatGPT</a:t>
            </a:r>
            <a:br/>
            <a:r>
              <a:t>研究の各段階に対応したツールを習得。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937760"/>
            <a:ext cx="6217920" cy="13716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4937760"/>
            <a:ext cx="6217920" cy="1371600"/>
          </a:xfrm>
          <a:prstGeom prst="roundRect">
            <a:avLst/>
          </a:pr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84FC"/>
                </a:solidFill>
                <a:latin typeface="Noto Sans JP"/>
              </a:defRPr>
            </a:pPr>
            <a:r>
              <a:t>📋 ポートフォリオで発信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Noto Sans JP"/>
              </a:defRPr>
            </a:pPr>
            <a:r>
              <a:t>チェックポイント（60点）＋</a:t>
            </a:r>
            <a:br/>
            <a:r>
              <a:t>Notionポートフォリオ（40点）で評価。</a:t>
            </a:r>
            <a:br/>
            <a:r>
              <a:t>自分の研究環境を記録・共有する力を養う。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6537960"/>
            <a:ext cx="6217920" cy="960120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83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Noto Sans JP"/>
              </a:defRPr>
            </a:pPr>
            <a:r>
              <a:t>📋 春〜夏学期｜オンデマンド｜2単位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858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🎓 菅原 裕輝（人文学林・講師）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71323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D4D8"/>
                </a:solidFill>
                <a:latin typeface="Noto Sans JP"/>
              </a:defRPr>
            </a:pPr>
            <a:r>
              <a:t>👤 人文学研究科の大学院生を主対象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7680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Noto Sans JP"/>
              </a:defRPr>
            </a:pPr>
            <a:r>
              <a:t>🔗 yukisugawara.github.io/humanities-and-digital-technologies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95527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BBF24"/>
                </a:solidFill>
                <a:latin typeface="Noto Sans JP"/>
              </a:defRPr>
            </a:pPr>
            <a:r>
              <a:t>📚 授業資料（OUKA）hdl.handle.net/11094/103995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8275320"/>
            <a:ext cx="4114800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8275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8181B"/>
                </a:solidFill>
                <a:latin typeface="Noto Sans JP"/>
              </a:defRPr>
            </a:pPr>
            <a:r>
              <a:t>詳しくはプロフィールのリンクから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
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5943600"/>
            <a:ext cx="3200400" cy="320040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-457200"/>
            <a:ext cx="1828800" cy="1828800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94560" y="1097280"/>
            <a:ext cx="2468880" cy="4114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097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Noto Sans JP"/>
              </a:defRPr>
            </a:pPr>
            <a:r>
              <a:t>令和8年度（2026）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59669"/>
                </a:solidFill>
                <a:latin typeface="Noto Sans JP"/>
              </a:defRPr>
            </a:pPr>
            <a:r>
              <a:t>大阪大学大学院 人文学研究科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  <a:latin typeface="Noto Sans JP"/>
              </a:defRPr>
            </a:pPr>
            <a:r>
              <a:t>人文学と</a:t>
            </a:r>
            <a:br/>
            <a:r>
              <a:t>デジタル技術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Noto Sans JP"/>
              </a:defRPr>
            </a:pPr>
            <a:r>
              <a:t>Humanities &amp; Digital Technologies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4572000"/>
            <a:ext cx="2286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Noto Sans JP"/>
              </a:defRPr>
            </a:pPr>
            <a:r>
              <a:t>全15回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93776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4937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Noto Sans JP"/>
              </a:defRPr>
            </a:pPr>
            <a:r>
              <a:t>オンデマンド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493776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4937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Noto Sans JP"/>
              </a:defRPr>
            </a:pPr>
            <a:r>
              <a:t>2単位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937760"/>
            <a:ext cx="12801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4937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Noto Sans JP"/>
              </a:defRPr>
            </a:pPr>
            <a:r>
              <a:t>ポートフォリオ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B5563"/>
                </a:solidFill>
                <a:latin typeface="Noto Sans JP"/>
              </a:defRPr>
            </a:pPr>
            <a:r>
              <a:t>人文学研究における</a:t>
            </a:r>
            <a:br/>
            <a:r>
              <a:t>「調査・読解・思考・執筆・発信」を</a:t>
            </a:r>
            <a:br/>
            <a:r>
              <a:t>デジタル技術で設計・運用・発展させる</a:t>
            </a:r>
            <a:br/>
            <a:r>
              <a:t>体系的な授業です。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680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Noto Sans JP"/>
              </a:defRPr>
            </a:pPr>
            <a:r>
              <a:t>担当：菅原 裕輝（人文学林・講師）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8046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Noto Sans JP"/>
              </a:defRPr>
            </a:pPr>
            <a:r>
              <a:t>→ スワイプして詳細を見る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-914400"/>
            <a:ext cx="2743200" cy="27432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6400800"/>
            <a:ext cx="2743200" cy="2743200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  <a:latin typeface="Noto Sans JP"/>
              </a:defRPr>
            </a:pPr>
            <a:r>
              <a:t>全15回の授業プログラム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Noto Sans JP"/>
              </a:defRPr>
            </a:pPr>
            <a:r>
              <a:t>3つのフェーズで段階的にスキルを身につけます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61264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612648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9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JP"/>
              </a:defRPr>
            </a:pPr>
            <a:r>
              <a:t>Phase 1：基盤を整える（第1〜5回）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1. 導入：Notion・Markdown・タイピング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1343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2. タスク管理：Trello・Google カレンダー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946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3. 文献探索：Google Scholar・Zotero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254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4. ノート術：Obsidian・ツェッテルカステン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815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5. 執筆ツール：Scrivener・Word・LaTeX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03320"/>
            <a:ext cx="61264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703320"/>
            <a:ext cx="61264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2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JP"/>
              </a:defRPr>
            </a:pPr>
            <a:r>
              <a:t>Phase 2：データと向き合う（第6〜10回）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6. コーパス：Sketch Engine・中納言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622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7. インタビュー調査・Whisper 文字起こし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1830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8. 質的データ分析・コーディング・発酵思考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7433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9. デジタルデータの整理術・Notion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3036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10. ウェブページの構造・分析・構築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6035040"/>
            <a:ext cx="612648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6035040"/>
            <a:ext cx="6126480" cy="4114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060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JP"/>
              </a:defRPr>
            </a:pPr>
            <a:r>
              <a:t>Phase 3：発展と統合（第11〜15回）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379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11. ソーシャルメディアの言説と実践の分析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7939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12. テキストデータの収集・前処理・分析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05002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13. 画像データの収集と分析（IIIF）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730605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14. 生成AI活用の可能性と限界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756208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Noto Sans JP"/>
              </a:defRPr>
            </a:pPr>
            <a:r>
              <a:t>15. まとめ：研究ワークフローの再設計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8138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Noto Sans JP"/>
              </a:defRPr>
            </a:pPr>
            <a:r>
              <a:t>→ スワイプして詳細を見る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85725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0"/>
            <a:ext cx="2743200" cy="27432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6400800"/>
            <a:ext cx="3200400" cy="3200400"/>
          </a:xfrm>
          <a:prstGeom prst="ellipse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  <a:latin typeface="Noto Sans JP"/>
              </a:defRPr>
            </a:pPr>
            <a:r>
              <a:t>この授業の特徴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61264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Noto Sans JP"/>
              </a:defRPr>
            </a:pPr>
            <a:r>
              <a:t>🍞 「発酵思考」で研究を深める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Noto Sans JP"/>
              </a:defRPr>
            </a:pPr>
            <a:r>
              <a:t>デジタル技術で効率的に材料を集め、</a:t>
            </a:r>
            <a:br/>
            <a:r>
              <a:t>人文学の視点でゆっくりと「発酵」させ、</a:t>
            </a:r>
            <a:br/>
            <a:r>
              <a:t>深い洞察を生み出す——</a:t>
            </a:r>
            <a:br/>
            <a:r>
              <a:t>「速さ」と「深さ」を両立させるアプローチです。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00400"/>
            <a:ext cx="6126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Noto Sans JP"/>
              </a:defRPr>
            </a:pPr>
            <a:r>
              <a:t>🛠️ 実践的なツールを体系的に学ぶ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Noto Sans JP"/>
              </a:defRPr>
            </a:pPr>
            <a:r>
              <a:t>Notion / Obsidian / Zotero / Sketch Engine /</a:t>
            </a:r>
            <a:br/>
            <a:r>
              <a:t>Whisper / Google Colab / IIIF / ChatGPT など</a:t>
            </a:r>
            <a:br/>
            <a:r>
              <a:t>研究の各段階に対応したツールを習得します。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846320"/>
            <a:ext cx="61264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  <a:latin typeface="Noto Sans JP"/>
              </a:defRPr>
            </a:pPr>
            <a:r>
              <a:t>📋 Notion ポートフォリオで成果を発信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Noto Sans JP"/>
              </a:defRPr>
            </a:pPr>
            <a:r>
              <a:t>毎回のチェックポイント（60点）＋</a:t>
            </a:r>
            <a:br/>
            <a:r>
              <a:t>デジタルポートフォリオ（40点）で評価。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6309360"/>
            <a:ext cx="6126480" cy="1463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Noto Sans JP"/>
              </a:defRPr>
            </a:pPr>
            <a:r>
              <a:t>📌 基本情報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766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FAE5"/>
                </a:solidFill>
                <a:latin typeface="Noto Sans JP"/>
              </a:defRPr>
            </a:pPr>
            <a:r>
              <a:t>春〜夏学期｜オンデマンド（メディア授業）｜2単位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0408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FAE5"/>
                </a:solidFill>
                <a:latin typeface="Noto Sans JP"/>
              </a:defRPr>
            </a:pPr>
            <a:r>
              <a:t>対象：人文学研究科の大学院生（他研究科の履修も可）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315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FAE5"/>
                </a:solidFill>
                <a:latin typeface="Noto Sans JP"/>
              </a:defRPr>
            </a:pPr>
            <a:r>
              <a:t>担当：菅原 裕輝（人文学林・講師）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9552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Noto Sans JP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365760" y="6217920"/>
            <a:ext cx="612648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JP"/>
              </a:defRPr>
            </a:pPr>
            <a:r>
              <a:t>📚 授業資料をOUKA（大阪大学学術情報庫）で公開中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7818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Noto Sans JP"/>
              </a:defRPr>
            </a:pPr>
            <a:r>
              <a:t>🔗 授業ページ：yukisugawara.github.io/humanities-and-digital-technologies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8092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Noto Sans JP"/>
              </a:defRPr>
            </a:pPr>
            <a:r>
              <a:t>📚 授業資料（OUKA）：hdl.handle.net/11094/103995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
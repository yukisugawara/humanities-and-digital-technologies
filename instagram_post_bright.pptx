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-457200"/>
            <a:ext cx="3657600" cy="3657600"/>
          </a:xfrm>
          <a:prstGeom prst="ellipse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3657600" cy="365760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0" y="5486400"/>
            <a:ext cx="4114800" cy="4114800"/>
          </a:xfrm>
          <a:prstGeom prst="ellipse">
            <a:avLst/>
          </a:prstGeom>
          <a:solidFill>
            <a:srgbClr val="FB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743200"/>
            <a:ext cx="2743200" cy="2743200"/>
          </a:xfrm>
          <a:prstGeom prst="ellipse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1005840"/>
            <a:ext cx="2651760" cy="457200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042415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47857"/>
                </a:solidFill>
                <a:latin typeface="Noto Sans JP"/>
              </a:defRPr>
            </a:pPr>
            <a:r>
              <a:t>2026  春〜夏学期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Noto Sans JP"/>
              </a:defRPr>
            </a:pPr>
            <a:r>
              <a:t>大阪大学大学院 人文学研究科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6032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  <a:latin typeface="Noto Sans JP"/>
              </a:defRPr>
            </a:pPr>
            <a:r>
              <a:t>人文学と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9184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59669"/>
                </a:solidFill>
                <a:latin typeface="Noto Sans JP"/>
              </a:defRPr>
            </a:pPr>
            <a:r>
              <a:t>デジタル技術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Noto Sans JP"/>
              </a:defRPr>
            </a:pPr>
            <a:r>
              <a:t>Humanities &amp; Digital Technologies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846320"/>
            <a:ext cx="1508760" cy="411480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87375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47857"/>
                </a:solidFill>
                <a:latin typeface="Noto Sans JP"/>
              </a:defRPr>
            </a:pPr>
            <a:r>
              <a:t>全15回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846320"/>
            <a:ext cx="1508760" cy="411480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87375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D28D9"/>
                </a:solidFill>
                <a:latin typeface="Noto Sans JP"/>
              </a:defRPr>
            </a:pPr>
            <a:r>
              <a:t>オンデマンド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4846320"/>
            <a:ext cx="1508760" cy="41148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487375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69A1"/>
                </a:solidFill>
                <a:latin typeface="Noto Sans JP"/>
              </a:defRPr>
            </a:pPr>
            <a:r>
              <a:t>2単位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846320"/>
            <a:ext cx="1508760" cy="411480"/>
          </a:xfrm>
          <a:prstGeom prst="round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87375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2410C"/>
                </a:solidFill>
                <a:latin typeface="Noto Sans JP"/>
              </a:defRPr>
            </a:pPr>
            <a:r>
              <a:t>ポートフォリオ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Noto Sans JP"/>
              </a:defRPr>
            </a:pPr>
            <a:r>
              <a:t>研究における</a:t>
            </a:r>
            <a:br/>
            <a:r>
              <a:t>「調査・読解・思考・執筆・発信」を</a:t>
            </a:r>
            <a:br/>
            <a:r>
              <a:t>デジタル技術で</a:t>
            </a:r>
            <a:br/>
            <a:r>
              <a:t>アップデートする授業です。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3152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Noto Sans JP"/>
              </a:defRPr>
            </a:pPr>
            <a:r>
              <a:t>菅原 裕輝｜人文学林・講師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7726679"/>
            <a:ext cx="3931920" cy="36576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7754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54D0E"/>
                </a:solidFill>
                <a:latin typeface="Noto Sans JP"/>
              </a:defRPr>
            </a:pPr>
            <a:r>
              <a:t>📚 授業資料 OUKAで公開中！誰でも見れます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8229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Noto Sans JP"/>
              </a:defRPr>
            </a:pPr>
            <a:r>
              <a:t>▶ swipe for 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-1371600"/>
            <a:ext cx="3657600" cy="3657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6400800"/>
            <a:ext cx="3657600" cy="3657600"/>
          </a:xfrm>
          <a:prstGeom prst="ellipse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937"/>
                </a:solidFill>
                <a:latin typeface="Noto Sans JP"/>
              </a:defRPr>
            </a:pPr>
            <a:r>
              <a:t>全15回のプログラム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Noto Sans JP"/>
              </a:defRPr>
            </a:pPr>
            <a:r>
              <a:t>3 phases でステップアップ 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62179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280160"/>
            <a:ext cx="6217920" cy="457200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436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Noto Sans JP"/>
              </a:defRPr>
            </a:pPr>
            <a:r>
              <a:t>🌱 PHASE 1   基盤を整える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411480" cy="256032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47857"/>
                </a:solidFill>
                <a:latin typeface="Noto Sans JP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導入：Notion・Markdown・タイピング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30552"/>
            <a:ext cx="411480" cy="256032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47857"/>
                </a:solidFill>
                <a:latin typeface="Noto Sans JP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1305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タスク管理：Trello・Google Calendar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432304"/>
            <a:ext cx="411480" cy="256032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432304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47857"/>
                </a:solidFill>
                <a:latin typeface="Noto Sans JP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4323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文献探索：Google Scholar・Zotero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34055"/>
            <a:ext cx="411480" cy="256032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34055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47857"/>
                </a:solidFill>
                <a:latin typeface="Noto Sans JP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73405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ノート術：Obsidian × Zettelkasten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35808"/>
            <a:ext cx="411480" cy="256032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3580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47857"/>
                </a:solidFill>
                <a:latin typeface="Noto Sans JP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0358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執筆ツール：Scrivener・Word・LaTeX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657600"/>
            <a:ext cx="62179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3657600"/>
            <a:ext cx="6217920" cy="45720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211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369A1"/>
                </a:solidFill>
                <a:latin typeface="Noto Sans JP"/>
              </a:defRPr>
            </a:pPr>
            <a:r>
              <a:t>🔍 PHASE 2   データと向き合う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411480" cy="256032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69A1"/>
                </a:solidFill>
                <a:latin typeface="Noto Sans JP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コーパス：Sketch Engine・中納言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07992"/>
            <a:ext cx="411480" cy="256032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079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69A1"/>
                </a:solidFill>
                <a:latin typeface="Noto Sans JP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507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インタビュー調査・Whisper 文字起こし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09744"/>
            <a:ext cx="411480" cy="256032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809744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69A1"/>
                </a:solidFill>
                <a:latin typeface="Noto Sans JP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809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質的分析・コーディング・発酵思考 🍞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11495"/>
            <a:ext cx="411480" cy="256032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11495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69A1"/>
                </a:solidFill>
                <a:latin typeface="Noto Sans JP"/>
              </a:defRPr>
            </a:pPr>
            <a: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11149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デジタルデータの整理術・Notion DB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13248"/>
            <a:ext cx="411480" cy="256032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1324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69A1"/>
                </a:solidFill>
                <a:latin typeface="Noto Sans JP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413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ウェブページの構造・分析・構築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6035040"/>
            <a:ext cx="62179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0040" y="6035040"/>
            <a:ext cx="6217920" cy="457200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0985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D28D9"/>
                </a:solidFill>
                <a:latin typeface="Noto Sans JP"/>
              </a:defRPr>
            </a:pPr>
            <a:r>
              <a:t>🚀 PHASE 3   発展と統合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583680"/>
            <a:ext cx="411480" cy="256032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58368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D28D9"/>
                </a:solidFill>
                <a:latin typeface="Noto Sans JP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6583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ソーシャルメディアの言説と実践の分析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885432"/>
            <a:ext cx="411480" cy="256032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88543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D28D9"/>
                </a:solidFill>
                <a:latin typeface="Noto Sans JP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68854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テキストデータの収集・前処理・分析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7187184"/>
            <a:ext cx="411480" cy="256032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7187184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D28D9"/>
                </a:solidFill>
                <a:latin typeface="Noto Sans JP"/>
              </a:defRPr>
            </a:pPr>
            <a: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7187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画像データの収集と分析（IIIF）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7488935"/>
            <a:ext cx="411480" cy="256032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7488935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D28D9"/>
                </a:solidFill>
                <a:latin typeface="Noto Sans JP"/>
              </a:defRPr>
            </a:pPr>
            <a: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748893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生成AI活用の可能性と限界 🤖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7790688"/>
            <a:ext cx="411480" cy="256032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779068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D28D9"/>
                </a:solidFill>
                <a:latin typeface="Noto Sans JP"/>
              </a:defRPr>
            </a:pPr>
            <a:r>
              <a:t>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77906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まとめ：ワークフローの再設計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8275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Noto Sans JP"/>
              </a:defRPr>
            </a:pPr>
            <a:r>
              <a:t>▶ swipe for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FB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5029200"/>
            <a:ext cx="3657600" cy="3657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FF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937"/>
                </a:solidFill>
                <a:latin typeface="Noto Sans JP"/>
              </a:defRPr>
            </a:pPr>
            <a:r>
              <a:t>この授業の 3つの特徴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6217920" cy="17373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47857"/>
                </a:solidFill>
                <a:latin typeface="Noto Sans JP"/>
              </a:defRPr>
            </a:pPr>
            <a:r>
              <a:t>🍞 「発酵思考」で研究を深める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Noto Sans JP"/>
              </a:defRPr>
            </a:pPr>
            <a:r>
              <a:t>デジタル技術で効率的に材料を集めて、</a:t>
            </a:r>
            <a:br/>
            <a:r>
              <a:t>人文学の視点でゆっくり「発酵」させる。</a:t>
            </a:r>
            <a:br/>
            <a:r>
              <a:t>速さと深さ、どっちも欲しいあなたに。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017520"/>
            <a:ext cx="6217920" cy="1737360"/>
          </a:xfrm>
          <a:prstGeom prst="round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369A1"/>
                </a:solidFill>
                <a:latin typeface="Noto Sans JP"/>
              </a:defRPr>
            </a:pPr>
            <a:r>
              <a:t>🛠️ 使えるツールが一気に身につく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Noto Sans JP"/>
              </a:defRPr>
            </a:pPr>
            <a:r>
              <a:t>Notion / Obsidian / Zotero / Sketch Engine</a:t>
            </a:r>
            <a:br/>
            <a:r>
              <a:t>Whisper / Google Colab / IIIF / ChatGPT</a:t>
            </a:r>
            <a:br/>
            <a:r>
              <a:t>研究に必要なツールを全15回で体系的に。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937760"/>
            <a:ext cx="6217920" cy="1463040"/>
          </a:xfrm>
          <a:prstGeom prst="round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D28D9"/>
                </a:solidFill>
                <a:latin typeface="Noto Sans JP"/>
              </a:defRPr>
            </a:pPr>
            <a:r>
              <a:t>📋 Notionポートフォリオで発信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Noto Sans JP"/>
              </a:defRPr>
            </a:pPr>
            <a:r>
              <a:t>チェックポイント（60点）＋ポートフォリオ（40点）。</a:t>
            </a:r>
            <a:br/>
            <a:r>
              <a:t>自分の研究スタイルを形にして、世界に共有しよう。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6629400"/>
            <a:ext cx="621792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675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Noto Sans JP"/>
              </a:defRPr>
            </a:pPr>
            <a:r>
              <a:t>📋 春〜夏学期｜オンデマンド｜2単位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9311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🎓 菅原 裕輝（人文学林・講師）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71871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👤 人文学研究科の大学院生を主対象（他研究科も可）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7635240"/>
            <a:ext cx="6217920" cy="320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7653527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47857"/>
                </a:solidFill>
                <a:latin typeface="Noto Sans JP"/>
              </a:defRPr>
            </a:pPr>
            <a:r>
              <a:t>🔗 yukisugawara.github.io/humanities-and-digital-technologies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8001000"/>
            <a:ext cx="6217920" cy="32004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8019288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54D0E"/>
                </a:solidFill>
                <a:latin typeface="Noto Sans JP"/>
              </a:defRPr>
            </a:pPr>
            <a:r>
              <a:t>📚 授業資料（OUKA）hdl.handle.net/11094/103995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8366760"/>
            <a:ext cx="3566160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